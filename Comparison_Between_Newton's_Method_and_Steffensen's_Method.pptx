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Platypi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" name="Google Shape;53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bg>
      <p:bgPr>
        <a:solidFill>
          <a:srgbClr val="000000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1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793790" y="2254925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"/>
              <a:buNone/>
            </a:pPr>
            <a:r>
              <a:rPr lang="en-US" sz="44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Comparison Between Newton's Method and Steffensen's Method</a:t>
            </a:r>
            <a:endParaRPr sz="4450" b="0" i="0" u="none" strike="noStrike" cap="none"/>
          </a:p>
        </p:txBody>
      </p:sp>
      <p:sp>
        <p:nvSpPr>
          <p:cNvPr id="65" name="Google Shape;65;p15"/>
          <p:cNvSpPr/>
          <p:nvPr/>
        </p:nvSpPr>
        <p:spPr>
          <a:xfrm>
            <a:off x="793790" y="401264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Prepared by: </a:t>
            </a:r>
            <a:r>
              <a:rPr lang="en-US" sz="1750" b="1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Rayan Abdullah AlShehri, Sultan Yasir Alasami, Osama Khaled Bayounis</a:t>
            </a:r>
            <a:endParaRPr sz="1750" b="0" i="0" u="none" strike="noStrike" cap="none"/>
          </a:p>
        </p:txBody>
      </p:sp>
      <p:sp>
        <p:nvSpPr>
          <p:cNvPr id="66" name="Google Shape;66;p15"/>
          <p:cNvSpPr/>
          <p:nvPr/>
        </p:nvSpPr>
        <p:spPr>
          <a:xfrm>
            <a:off x="793790" y="463069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Prepared for: </a:t>
            </a:r>
            <a:r>
              <a:rPr lang="en-US" sz="1750" b="1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Dr. Ahmed Harbawi</a:t>
            </a:r>
            <a:endParaRPr sz="1750" b="0" i="0" u="none" strike="noStrike" cap="none"/>
          </a:p>
        </p:txBody>
      </p:sp>
      <p:sp>
        <p:nvSpPr>
          <p:cNvPr id="67" name="Google Shape;67;p15"/>
          <p:cNvSpPr/>
          <p:nvPr/>
        </p:nvSpPr>
        <p:spPr>
          <a:xfrm>
            <a:off x="793790" y="5248751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presentation covers an introduction to Newton's and Steffensen's methods, their formulas, potential issues, MATLAB implementations, and a comparative conclusion.</a:t>
            </a:r>
            <a:endParaRPr sz="1750" b="0" i="0" u="none" strike="noStrike" cap="none"/>
          </a:p>
        </p:txBody>
      </p:sp>
      <p:sp>
        <p:nvSpPr>
          <p:cNvPr id="68" name="Google Shape;68;p15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825580" y="285037"/>
            <a:ext cx="11016258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"/>
              <a:buNone/>
            </a:pPr>
            <a:r>
              <a:rPr lang="en-US" sz="3550" b="0" i="0" u="none" strike="noStrike" cap="none" dirty="0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Introduction to Newton's Method and Its Formula</a:t>
            </a:r>
            <a:endParaRPr sz="3550" b="0" i="0" u="none" strike="noStrike" cap="none" dirty="0"/>
          </a:p>
        </p:txBody>
      </p:sp>
      <p:pic>
        <p:nvPicPr>
          <p:cNvPr id="75" name="Google Shape;7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1810822"/>
            <a:ext cx="5490924" cy="359223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6735008" y="1810822"/>
            <a:ext cx="7109103" cy="2921318"/>
          </a:xfrm>
          <a:prstGeom prst="roundRect">
            <a:avLst>
              <a:gd name="adj" fmla="val 932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742628" y="1818442"/>
            <a:ext cx="7093863" cy="81343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924437" y="1934885"/>
            <a:ext cx="842010" cy="58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Iteration (n)</a:t>
            </a:r>
            <a:endParaRPr sz="1400" b="0" i="0" u="none" strike="noStrike" cap="none"/>
          </a:p>
        </p:txBody>
      </p:sp>
      <p:sp>
        <p:nvSpPr>
          <p:cNvPr id="79" name="Google Shape;79;p16"/>
          <p:cNvSpPr/>
          <p:nvPr/>
        </p:nvSpPr>
        <p:spPr>
          <a:xfrm>
            <a:off x="8136969" y="1934885"/>
            <a:ext cx="101905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x(n)</a:t>
            </a:r>
            <a:endParaRPr sz="1400" b="0" i="0" u="none" strike="noStrike" cap="none"/>
          </a:p>
        </p:txBody>
      </p:sp>
      <p:sp>
        <p:nvSpPr>
          <p:cNvPr id="80" name="Google Shape;80;p16"/>
          <p:cNvSpPr/>
          <p:nvPr/>
        </p:nvSpPr>
        <p:spPr>
          <a:xfrm>
            <a:off x="9526548" y="1934885"/>
            <a:ext cx="1180148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f(x(n))</a:t>
            </a:r>
            <a:endParaRPr sz="1400" b="0" i="0" u="none" strike="noStrike" cap="none"/>
          </a:p>
        </p:txBody>
      </p:sp>
      <p:sp>
        <p:nvSpPr>
          <p:cNvPr id="81" name="Google Shape;81;p16"/>
          <p:cNvSpPr/>
          <p:nvPr/>
        </p:nvSpPr>
        <p:spPr>
          <a:xfrm>
            <a:off x="11077218" y="1934885"/>
            <a:ext cx="1009174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f’(x(n))</a:t>
            </a:r>
            <a:endParaRPr sz="1400" b="0" i="0" u="none" strike="noStrike" cap="none"/>
          </a:p>
        </p:txBody>
      </p:sp>
      <p:sp>
        <p:nvSpPr>
          <p:cNvPr id="82" name="Google Shape;82;p16"/>
          <p:cNvSpPr/>
          <p:nvPr/>
        </p:nvSpPr>
        <p:spPr>
          <a:xfrm>
            <a:off x="12456914" y="1934885"/>
            <a:ext cx="119812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x(n+1)</a:t>
            </a:r>
            <a:endParaRPr sz="1400" b="0" i="0" u="none" strike="noStrike" cap="none"/>
          </a:p>
        </p:txBody>
      </p:sp>
      <p:sp>
        <p:nvSpPr>
          <p:cNvPr id="83" name="Google Shape;83;p16"/>
          <p:cNvSpPr/>
          <p:nvPr/>
        </p:nvSpPr>
        <p:spPr>
          <a:xfrm>
            <a:off x="6742628" y="2631877"/>
            <a:ext cx="7093863" cy="52316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6924437" y="2748320"/>
            <a:ext cx="842010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 b="0" i="0" u="none" strike="noStrike" cap="none"/>
          </a:p>
        </p:txBody>
      </p:sp>
      <p:sp>
        <p:nvSpPr>
          <p:cNvPr id="85" name="Google Shape;85;p16"/>
          <p:cNvSpPr/>
          <p:nvPr/>
        </p:nvSpPr>
        <p:spPr>
          <a:xfrm>
            <a:off x="8136969" y="2748320"/>
            <a:ext cx="101905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/>
          </a:p>
        </p:txBody>
      </p:sp>
      <p:sp>
        <p:nvSpPr>
          <p:cNvPr id="86" name="Google Shape;86;p16"/>
          <p:cNvSpPr/>
          <p:nvPr/>
        </p:nvSpPr>
        <p:spPr>
          <a:xfrm>
            <a:off x="9526548" y="2748320"/>
            <a:ext cx="1180148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sz="1400" b="0" i="0" u="none" strike="noStrike" cap="none"/>
          </a:p>
        </p:txBody>
      </p:sp>
      <p:sp>
        <p:nvSpPr>
          <p:cNvPr id="87" name="Google Shape;87;p16"/>
          <p:cNvSpPr/>
          <p:nvPr/>
        </p:nvSpPr>
        <p:spPr>
          <a:xfrm>
            <a:off x="11077218" y="2748320"/>
            <a:ext cx="1009174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/>
          </a:p>
        </p:txBody>
      </p:sp>
      <p:sp>
        <p:nvSpPr>
          <p:cNvPr id="88" name="Google Shape;88;p16"/>
          <p:cNvSpPr/>
          <p:nvPr/>
        </p:nvSpPr>
        <p:spPr>
          <a:xfrm>
            <a:off x="12456914" y="2748320"/>
            <a:ext cx="119812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2.25</a:t>
            </a:r>
            <a:endParaRPr sz="1400" b="0" i="0" u="none" strike="noStrike" cap="none"/>
          </a:p>
        </p:txBody>
      </p:sp>
      <p:sp>
        <p:nvSpPr>
          <p:cNvPr id="89" name="Google Shape;89;p16"/>
          <p:cNvSpPr/>
          <p:nvPr/>
        </p:nvSpPr>
        <p:spPr>
          <a:xfrm>
            <a:off x="6742628" y="3155037"/>
            <a:ext cx="7093863" cy="52316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924437" y="3271480"/>
            <a:ext cx="842010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/>
          </a:p>
        </p:txBody>
      </p:sp>
      <p:sp>
        <p:nvSpPr>
          <p:cNvPr id="91" name="Google Shape;91;p16"/>
          <p:cNvSpPr/>
          <p:nvPr/>
        </p:nvSpPr>
        <p:spPr>
          <a:xfrm>
            <a:off x="8136969" y="3271480"/>
            <a:ext cx="101905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2.25</a:t>
            </a:r>
            <a:endParaRPr sz="1400" b="0" i="0" u="none" strike="noStrike" cap="none"/>
          </a:p>
        </p:txBody>
      </p:sp>
      <p:sp>
        <p:nvSpPr>
          <p:cNvPr id="92" name="Google Shape;92;p16"/>
          <p:cNvSpPr/>
          <p:nvPr/>
        </p:nvSpPr>
        <p:spPr>
          <a:xfrm>
            <a:off x="9526548" y="3271480"/>
            <a:ext cx="1180148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0.0625</a:t>
            </a:r>
            <a:endParaRPr sz="1400" b="0" i="0" u="none" strike="noStrike" cap="none"/>
          </a:p>
        </p:txBody>
      </p:sp>
      <p:sp>
        <p:nvSpPr>
          <p:cNvPr id="93" name="Google Shape;93;p16"/>
          <p:cNvSpPr/>
          <p:nvPr/>
        </p:nvSpPr>
        <p:spPr>
          <a:xfrm>
            <a:off x="11077218" y="3271480"/>
            <a:ext cx="1009174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4.5</a:t>
            </a:r>
            <a:endParaRPr sz="1400" b="0" i="0" u="none" strike="noStrike" cap="none"/>
          </a:p>
        </p:txBody>
      </p:sp>
      <p:sp>
        <p:nvSpPr>
          <p:cNvPr id="94" name="Google Shape;94;p16"/>
          <p:cNvSpPr/>
          <p:nvPr/>
        </p:nvSpPr>
        <p:spPr>
          <a:xfrm>
            <a:off x="12456914" y="3271480"/>
            <a:ext cx="119812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2.236111111</a:t>
            </a:r>
            <a:endParaRPr sz="1400" b="0" i="0" u="none" strike="noStrike" cap="none"/>
          </a:p>
        </p:txBody>
      </p:sp>
      <p:sp>
        <p:nvSpPr>
          <p:cNvPr id="95" name="Google Shape;95;p16"/>
          <p:cNvSpPr/>
          <p:nvPr/>
        </p:nvSpPr>
        <p:spPr>
          <a:xfrm>
            <a:off x="6742628" y="3678198"/>
            <a:ext cx="7093863" cy="523161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924437" y="3794641"/>
            <a:ext cx="842010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/>
          </a:p>
        </p:txBody>
      </p:sp>
      <p:sp>
        <p:nvSpPr>
          <p:cNvPr id="97" name="Google Shape;97;p16"/>
          <p:cNvSpPr/>
          <p:nvPr/>
        </p:nvSpPr>
        <p:spPr>
          <a:xfrm>
            <a:off x="8136969" y="3794641"/>
            <a:ext cx="101905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2.236111111</a:t>
            </a:r>
            <a:endParaRPr sz="1400" b="0" i="0" u="none" strike="noStrike" cap="none"/>
          </a:p>
        </p:txBody>
      </p:sp>
      <p:sp>
        <p:nvSpPr>
          <p:cNvPr id="98" name="Google Shape;98;p16"/>
          <p:cNvSpPr/>
          <p:nvPr/>
        </p:nvSpPr>
        <p:spPr>
          <a:xfrm>
            <a:off x="9526548" y="3794641"/>
            <a:ext cx="1180148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0.000192902</a:t>
            </a:r>
            <a:endParaRPr sz="1400" b="0" i="0" u="none" strike="noStrike" cap="none"/>
          </a:p>
        </p:txBody>
      </p:sp>
      <p:sp>
        <p:nvSpPr>
          <p:cNvPr id="99" name="Google Shape;99;p16"/>
          <p:cNvSpPr/>
          <p:nvPr/>
        </p:nvSpPr>
        <p:spPr>
          <a:xfrm>
            <a:off x="11077218" y="3794641"/>
            <a:ext cx="1009174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4.472222222</a:t>
            </a:r>
            <a:endParaRPr sz="1400" b="0" i="0" u="none" strike="noStrike" cap="none"/>
          </a:p>
        </p:txBody>
      </p:sp>
      <p:sp>
        <p:nvSpPr>
          <p:cNvPr id="100" name="Google Shape;100;p16"/>
          <p:cNvSpPr/>
          <p:nvPr/>
        </p:nvSpPr>
        <p:spPr>
          <a:xfrm>
            <a:off x="12456914" y="3794641"/>
            <a:ext cx="119812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2.236067978</a:t>
            </a:r>
            <a:endParaRPr sz="1400" b="0" i="0" u="none" strike="noStrike" cap="none"/>
          </a:p>
        </p:txBody>
      </p:sp>
      <p:sp>
        <p:nvSpPr>
          <p:cNvPr id="101" name="Google Shape;101;p16"/>
          <p:cNvSpPr/>
          <p:nvPr/>
        </p:nvSpPr>
        <p:spPr>
          <a:xfrm>
            <a:off x="6742628" y="4201358"/>
            <a:ext cx="7093863" cy="523161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6924437" y="4317802"/>
            <a:ext cx="842010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/>
          </a:p>
        </p:txBody>
      </p:sp>
      <p:sp>
        <p:nvSpPr>
          <p:cNvPr id="103" name="Google Shape;103;p16"/>
          <p:cNvSpPr/>
          <p:nvPr/>
        </p:nvSpPr>
        <p:spPr>
          <a:xfrm>
            <a:off x="8136969" y="4317802"/>
            <a:ext cx="101905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2.236067978</a:t>
            </a:r>
            <a:endParaRPr sz="1400" b="0" i="0" u="none" strike="noStrike" cap="none"/>
          </a:p>
        </p:txBody>
      </p:sp>
      <p:sp>
        <p:nvSpPr>
          <p:cNvPr id="104" name="Google Shape;104;p16"/>
          <p:cNvSpPr/>
          <p:nvPr/>
        </p:nvSpPr>
        <p:spPr>
          <a:xfrm>
            <a:off x="9526548" y="4317802"/>
            <a:ext cx="1180148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3.71689×10^-9</a:t>
            </a:r>
            <a:endParaRPr sz="1400" b="0" i="0" u="none" strike="noStrike" cap="none"/>
          </a:p>
        </p:txBody>
      </p:sp>
      <p:sp>
        <p:nvSpPr>
          <p:cNvPr id="105" name="Google Shape;105;p16"/>
          <p:cNvSpPr/>
          <p:nvPr/>
        </p:nvSpPr>
        <p:spPr>
          <a:xfrm>
            <a:off x="11077218" y="4317802"/>
            <a:ext cx="1009174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4.472135955</a:t>
            </a:r>
            <a:endParaRPr sz="1400" b="0" i="0" u="none" strike="noStrike" cap="none"/>
          </a:p>
        </p:txBody>
      </p:sp>
      <p:sp>
        <p:nvSpPr>
          <p:cNvPr id="106" name="Google Shape;106;p16"/>
          <p:cNvSpPr/>
          <p:nvPr/>
        </p:nvSpPr>
        <p:spPr>
          <a:xfrm>
            <a:off x="12456914" y="4317802"/>
            <a:ext cx="1198126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2.236067978</a:t>
            </a:r>
            <a:endParaRPr sz="1400" b="0" i="0" u="none" strike="noStrike" cap="none"/>
          </a:p>
        </p:txBody>
      </p:sp>
      <p:sp>
        <p:nvSpPr>
          <p:cNvPr id="107" name="Google Shape;107;p16"/>
          <p:cNvSpPr/>
          <p:nvPr/>
        </p:nvSpPr>
        <p:spPr>
          <a:xfrm>
            <a:off x="793790" y="5974437"/>
            <a:ext cx="6300073" cy="870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Newton's Method approximates roots by iteratively using tangent lines on the function curve. Starting with an initial guess close to the root, the next estimate is calculated by:</a:t>
            </a:r>
            <a:endParaRPr sz="1400" b="0" i="0" u="none" strike="noStrike" cap="none"/>
          </a:p>
        </p:txBody>
      </p:sp>
      <p:sp>
        <p:nvSpPr>
          <p:cNvPr id="108" name="Google Shape;108;p16"/>
          <p:cNvSpPr/>
          <p:nvPr/>
        </p:nvSpPr>
        <p:spPr>
          <a:xfrm>
            <a:off x="793790" y="7008495"/>
            <a:ext cx="6300073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xn+1 = xn - f(xn) / f'(xn)</a:t>
            </a:r>
            <a:endParaRPr sz="1400" b="0" i="0" u="none" strike="noStrike" cap="none"/>
          </a:p>
        </p:txBody>
      </p:sp>
      <p:sp>
        <p:nvSpPr>
          <p:cNvPr id="109" name="Google Shape;109;p16"/>
          <p:cNvSpPr/>
          <p:nvPr/>
        </p:nvSpPr>
        <p:spPr>
          <a:xfrm>
            <a:off x="7544157" y="5974437"/>
            <a:ext cx="6300073" cy="870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For example, with f(x) = x² - 5 and initial guess x₀ = 2, iterations quickly converge to the root. The method stops when estimates stabilize to the desired accuracy.</a:t>
            </a:r>
            <a:endParaRPr sz="1400" b="0" i="0" u="none" strike="noStrike" cap="none"/>
          </a:p>
        </p:txBody>
      </p:sp>
      <p:sp>
        <p:nvSpPr>
          <p:cNvPr id="110" name="Google Shape;110;p16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793790" y="297738"/>
            <a:ext cx="9720739" cy="63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"/>
              <a:buNone/>
            </a:pPr>
            <a:r>
              <a:rPr lang="en-US" sz="4000" b="0" i="0" u="none" strike="noStrike" cap="none" dirty="0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Potential Issues with Newton's Method</a:t>
            </a:r>
            <a:endParaRPr sz="4000" b="0" i="0" u="none" strike="noStrike" cap="none" dirty="0"/>
          </a:p>
        </p:txBody>
      </p:sp>
      <p:sp>
        <p:nvSpPr>
          <p:cNvPr id="117" name="Google Shape;117;p17"/>
          <p:cNvSpPr/>
          <p:nvPr/>
        </p:nvSpPr>
        <p:spPr>
          <a:xfrm>
            <a:off x="793790" y="1816537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1457087" y="1886664"/>
            <a:ext cx="3149679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"/>
              <a:buNone/>
            </a:pPr>
            <a:r>
              <a:rPr lang="en-US" sz="2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Horizontal Tangent Issue</a:t>
            </a:r>
            <a:endParaRPr sz="2000" b="0" i="0" u="none" strike="noStrike" cap="none"/>
          </a:p>
        </p:txBody>
      </p:sp>
      <p:sp>
        <p:nvSpPr>
          <p:cNvPr id="119" name="Google Shape;119;p17"/>
          <p:cNvSpPr/>
          <p:nvPr/>
        </p:nvSpPr>
        <p:spPr>
          <a:xfrm>
            <a:off x="1457087" y="2327910"/>
            <a:ext cx="3514249" cy="98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If the initial guess is at a point where f′(x) = 0, the tangent is horizontal and the method fails to proceed.</a:t>
            </a:r>
            <a:endParaRPr sz="1600" b="0" i="0" u="none" strike="noStrike" cap="none"/>
          </a:p>
        </p:txBody>
      </p:sp>
      <p:sp>
        <p:nvSpPr>
          <p:cNvPr id="120" name="Google Shape;120;p17"/>
          <p:cNvSpPr/>
          <p:nvPr/>
        </p:nvSpPr>
        <p:spPr>
          <a:xfrm>
            <a:off x="5226487" y="1816537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5889784" y="1886664"/>
            <a:ext cx="3382328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"/>
              <a:buNone/>
            </a:pPr>
            <a:r>
              <a:rPr lang="en-US" sz="2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Initial Guess Far from Root</a:t>
            </a:r>
            <a:endParaRPr sz="2000" b="0" i="0" u="none" strike="noStrike" cap="none"/>
          </a:p>
        </p:txBody>
      </p:sp>
      <p:sp>
        <p:nvSpPr>
          <p:cNvPr id="122" name="Google Shape;122;p17"/>
          <p:cNvSpPr/>
          <p:nvPr/>
        </p:nvSpPr>
        <p:spPr>
          <a:xfrm>
            <a:off x="5889784" y="2327910"/>
            <a:ext cx="3514249" cy="130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distant initial guess can cause divergence or convergence to the wrong root due to tangent lines not leading correctly.</a:t>
            </a:r>
            <a:endParaRPr sz="1600" b="0" i="0" u="none" strike="noStrike" cap="none"/>
          </a:p>
        </p:txBody>
      </p:sp>
      <p:sp>
        <p:nvSpPr>
          <p:cNvPr id="123" name="Google Shape;123;p17"/>
          <p:cNvSpPr/>
          <p:nvPr/>
        </p:nvSpPr>
        <p:spPr>
          <a:xfrm>
            <a:off x="9659183" y="1816537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10322481" y="1886664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"/>
              <a:buNone/>
            </a:pPr>
            <a:r>
              <a:rPr lang="en-US" sz="20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Cycling Behavior</a:t>
            </a:r>
            <a:endParaRPr sz="2000" b="0" i="0" u="none" strike="noStrike" cap="none"/>
          </a:p>
        </p:txBody>
      </p:sp>
      <p:sp>
        <p:nvSpPr>
          <p:cNvPr id="125" name="Google Shape;125;p17"/>
          <p:cNvSpPr/>
          <p:nvPr/>
        </p:nvSpPr>
        <p:spPr>
          <a:xfrm>
            <a:off x="10322481" y="2327910"/>
            <a:ext cx="3514249" cy="98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method can get stuck in cycles near inflection points, oscillating without converging.</a:t>
            </a:r>
            <a:endParaRPr sz="1600" b="0" i="0" u="none" strike="noStrike" cap="none"/>
          </a:p>
        </p:txBody>
      </p:sp>
      <p:pic>
        <p:nvPicPr>
          <p:cNvPr id="126" name="Google Shape;12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4093845"/>
            <a:ext cx="3699629" cy="222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8958" y="4093845"/>
            <a:ext cx="4360069" cy="262532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4998958" y="6948726"/>
            <a:ext cx="4476869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endParaRPr sz="1600" b="0" i="0" u="none" strike="noStrike" cap="none"/>
          </a:p>
        </p:txBody>
      </p:sp>
      <p:pic>
        <p:nvPicPr>
          <p:cNvPr id="129" name="Google Shape;129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1367" y="4093845"/>
            <a:ext cx="3868579" cy="244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989468" y="1222058"/>
            <a:ext cx="12802314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"/>
              <a:buNone/>
            </a:pPr>
            <a:r>
              <a:rPr lang="en-US" sz="4450" b="0" i="0" u="none" strike="noStrike" cap="none" dirty="0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MATLAB Implementation of Newton's Method</a:t>
            </a:r>
            <a:endParaRPr sz="4450" b="0" i="0" u="none" strike="noStrike" cap="none" dirty="0"/>
          </a:p>
        </p:txBody>
      </p:sp>
      <p:sp>
        <p:nvSpPr>
          <p:cNvPr id="137" name="Google Shape;137;p18"/>
          <p:cNvSpPr/>
          <p:nvPr/>
        </p:nvSpPr>
        <p:spPr>
          <a:xfrm>
            <a:off x="793790" y="34520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878860" y="349460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"/>
              <a:buNone/>
            </a:pPr>
            <a:r>
              <a:rPr lang="en-US" sz="26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1</a:t>
            </a:r>
            <a:endParaRPr sz="2650" b="0" i="0" u="none" strike="noStrike" cap="none"/>
          </a:p>
        </p:txBody>
      </p:sp>
      <p:sp>
        <p:nvSpPr>
          <p:cNvPr id="139" name="Google Shape;139;p18"/>
          <p:cNvSpPr/>
          <p:nvPr/>
        </p:nvSpPr>
        <p:spPr>
          <a:xfrm>
            <a:off x="1530906" y="3529965"/>
            <a:ext cx="3421499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Inputs and Assumptions</a:t>
            </a:r>
            <a:endParaRPr sz="2200" b="0" i="0" u="none" strike="noStrike" cap="none"/>
          </a:p>
        </p:txBody>
      </p:sp>
      <p:sp>
        <p:nvSpPr>
          <p:cNvPr id="140" name="Google Shape;140;p18"/>
          <p:cNvSpPr/>
          <p:nvPr/>
        </p:nvSpPr>
        <p:spPr>
          <a:xfrm>
            <a:off x="1530906" y="4374713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 f(x), its derivative f′(x), and initial guess x₀. The derivative must not be zero and f(x) must be continuous.</a:t>
            </a:r>
            <a:endParaRPr sz="1750" b="0" i="0" u="none" strike="noStrike" cap="none"/>
          </a:p>
        </p:txBody>
      </p:sp>
      <p:sp>
        <p:nvSpPr>
          <p:cNvPr id="141" name="Google Shape;141;p18"/>
          <p:cNvSpPr/>
          <p:nvPr/>
        </p:nvSpPr>
        <p:spPr>
          <a:xfrm>
            <a:off x="5235893" y="34520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320963" y="349460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"/>
              <a:buNone/>
            </a:pPr>
            <a:r>
              <a:rPr lang="en-US" sz="26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2</a:t>
            </a:r>
            <a:endParaRPr sz="2650" b="0" i="0" u="none" strike="noStrike" cap="none"/>
          </a:p>
        </p:txBody>
      </p:sp>
      <p:sp>
        <p:nvSpPr>
          <p:cNvPr id="143" name="Google Shape;143;p18"/>
          <p:cNvSpPr/>
          <p:nvPr/>
        </p:nvSpPr>
        <p:spPr>
          <a:xfrm>
            <a:off x="5973008" y="35299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Procedure</a:t>
            </a:r>
            <a:endParaRPr sz="2200" b="0" i="0" u="none" strike="noStrike" cap="none"/>
          </a:p>
        </p:txBody>
      </p:sp>
      <p:sp>
        <p:nvSpPr>
          <p:cNvPr id="144" name="Google Shape;144;p18"/>
          <p:cNvSpPr/>
          <p:nvPr/>
        </p:nvSpPr>
        <p:spPr>
          <a:xfrm>
            <a:off x="5973008" y="4020383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Iteratively compute xn+1 = xn - f(xn)/f′(xn) until |f(xn)| is below tolerance or max iterations reached.</a:t>
            </a:r>
            <a:endParaRPr sz="1750" b="0" i="0" u="none" strike="noStrike" cap="none"/>
          </a:p>
        </p:txBody>
      </p:sp>
      <p:sp>
        <p:nvSpPr>
          <p:cNvPr id="145" name="Google Shape;145;p18"/>
          <p:cNvSpPr/>
          <p:nvPr/>
        </p:nvSpPr>
        <p:spPr>
          <a:xfrm>
            <a:off x="9677995" y="34520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9763065" y="349460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"/>
              <a:buNone/>
            </a:pPr>
            <a:r>
              <a:rPr lang="en-US" sz="26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3</a:t>
            </a:r>
            <a:endParaRPr sz="2650" b="0" i="0" u="none" strike="noStrike" cap="none"/>
          </a:p>
        </p:txBody>
      </p:sp>
      <p:sp>
        <p:nvSpPr>
          <p:cNvPr id="147" name="Google Shape;147;p18"/>
          <p:cNvSpPr/>
          <p:nvPr/>
        </p:nvSpPr>
        <p:spPr>
          <a:xfrm>
            <a:off x="10415111" y="35299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Output</a:t>
            </a:r>
            <a:endParaRPr sz="2200" b="0" i="0" u="none" strike="noStrike" cap="none"/>
          </a:p>
        </p:txBody>
      </p:sp>
      <p:sp>
        <p:nvSpPr>
          <p:cNvPr id="148" name="Google Shape;148;p18"/>
          <p:cNvSpPr/>
          <p:nvPr/>
        </p:nvSpPr>
        <p:spPr>
          <a:xfrm>
            <a:off x="10415111" y="4020383"/>
            <a:ext cx="3421499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Approximate root with printed iteration details and graphical plot of function and root.</a:t>
            </a:r>
            <a:endParaRPr sz="1750" b="0" i="0" u="none" strike="noStrike" cap="none"/>
          </a:p>
        </p:txBody>
      </p:sp>
      <p:sp>
        <p:nvSpPr>
          <p:cNvPr id="149" name="Google Shape;149;p18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805220" y="511730"/>
            <a:ext cx="8336280" cy="48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000"/>
              <a:buFont typeface="Platypi"/>
              <a:buNone/>
            </a:pPr>
            <a:r>
              <a:rPr lang="en-US" sz="3000" b="1" i="0" u="none" strike="noStrike" cap="none" dirty="0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MATLAB Script Output (Newton's Method)</a:t>
            </a:r>
            <a:endParaRPr sz="3000" b="0" i="0" u="none" strike="noStrike" cap="none" dirty="0"/>
          </a:p>
        </p:txBody>
      </p:sp>
      <p:pic>
        <p:nvPicPr>
          <p:cNvPr id="156" name="Google Shape;156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1735693"/>
            <a:ext cx="7367230" cy="244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793790" y="4398764"/>
            <a:ext cx="7367230" cy="722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50"/>
              <a:buFont typeface="Platypi"/>
              <a:buNone/>
            </a:pPr>
            <a:r>
              <a:rPr lang="en-US" sz="2250" b="1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Iteration Table: Newton’s Method Numerical Output</a:t>
            </a:r>
            <a:endParaRPr sz="2250" b="0" i="0" u="none" strike="noStrike" cap="none"/>
          </a:p>
        </p:txBody>
      </p:sp>
      <p:sp>
        <p:nvSpPr>
          <p:cNvPr id="158" name="Google Shape;158;p19"/>
          <p:cNvSpPr/>
          <p:nvPr/>
        </p:nvSpPr>
        <p:spPr>
          <a:xfrm>
            <a:off x="1082993" y="5338524"/>
            <a:ext cx="7078028" cy="61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Displays the progression of x(n), F(x(n)), F'(x(n)) for each step until convergence is achieved.</a:t>
            </a:r>
            <a:endParaRPr sz="1500" b="0" i="0" u="none" strike="noStrike" cap="none"/>
          </a:p>
        </p:txBody>
      </p:sp>
      <p:sp>
        <p:nvSpPr>
          <p:cNvPr id="159" name="Google Shape;159;p19"/>
          <p:cNvSpPr/>
          <p:nvPr/>
        </p:nvSpPr>
        <p:spPr>
          <a:xfrm>
            <a:off x="793790" y="5338524"/>
            <a:ext cx="22860" cy="616744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93790" y="6172081"/>
            <a:ext cx="7367230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endParaRPr sz="1500" b="0" i="0" u="none" strike="noStrike" cap="none"/>
          </a:p>
        </p:txBody>
      </p:sp>
      <p:pic>
        <p:nvPicPr>
          <p:cNvPr id="161" name="Google Shape;161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8937" y="1735693"/>
            <a:ext cx="5205174" cy="332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8638937" y="5274707"/>
            <a:ext cx="5205174" cy="60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"/>
              <a:buNone/>
            </a:pPr>
            <a:r>
              <a:rPr lang="en-US" sz="1850" b="1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Graphical Convergence of Newton’s Method</a:t>
            </a:r>
            <a:endParaRPr sz="1850" b="0" i="0" u="none" strike="noStrike" cap="none"/>
          </a:p>
        </p:txBody>
      </p:sp>
      <p:sp>
        <p:nvSpPr>
          <p:cNvPr id="163" name="Google Shape;163;p19"/>
          <p:cNvSpPr/>
          <p:nvPr/>
        </p:nvSpPr>
        <p:spPr>
          <a:xfrm>
            <a:off x="8928140" y="6093976"/>
            <a:ext cx="4915972" cy="61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Visual representation of how each iteration approaches the root using tangent-line approximations.</a:t>
            </a:r>
            <a:endParaRPr sz="1500" b="0" i="0" u="none" strike="noStrike" cap="none"/>
          </a:p>
        </p:txBody>
      </p:sp>
      <p:sp>
        <p:nvSpPr>
          <p:cNvPr id="164" name="Google Shape;164;p19"/>
          <p:cNvSpPr/>
          <p:nvPr/>
        </p:nvSpPr>
        <p:spPr>
          <a:xfrm>
            <a:off x="8638937" y="6093976"/>
            <a:ext cx="22860" cy="616744"/>
          </a:xfrm>
          <a:prstGeom prst="rect">
            <a:avLst/>
          </a:prstGeom>
          <a:solidFill>
            <a:srgbClr val="3E25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8638937" y="6927533"/>
            <a:ext cx="5205174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endParaRPr sz="1500" b="0" i="0" u="none" strike="noStrike" cap="none"/>
          </a:p>
        </p:txBody>
      </p:sp>
      <p:sp>
        <p:nvSpPr>
          <p:cNvPr id="166" name="Google Shape;166;p19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793790" y="773787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"/>
              <a:buNone/>
            </a:pPr>
            <a:r>
              <a:rPr lang="en-US" sz="44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Introduction to Steffensen's Method and It's Formula</a:t>
            </a:r>
            <a:endParaRPr sz="4450" b="0" i="0" u="none" strike="noStrike" cap="none"/>
          </a:p>
        </p:txBody>
      </p:sp>
      <p:sp>
        <p:nvSpPr>
          <p:cNvPr id="173" name="Google Shape;173;p20"/>
          <p:cNvSpPr/>
          <p:nvPr/>
        </p:nvSpPr>
        <p:spPr>
          <a:xfrm>
            <a:off x="793790" y="264497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Steffensen's Method is a root-finding algorithm with quadratic convergence like Newton's, but it does not require the derivative. It approximates the derivative using forward finite differences.</a:t>
            </a:r>
            <a:endParaRPr sz="1750" b="0" i="0" u="none" strike="noStrike" cap="none"/>
          </a:p>
        </p:txBody>
      </p:sp>
      <p:sp>
        <p:nvSpPr>
          <p:cNvPr id="174" name="Google Shape;174;p20"/>
          <p:cNvSpPr/>
          <p:nvPr/>
        </p:nvSpPr>
        <p:spPr>
          <a:xfrm>
            <a:off x="793790" y="362592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formula assumes the function F(x) is continuous and behaves smoothly near the root. Although the method can sometimes still work with a less accurate initial guess, for best performance, the starting value x(0)​ should be close to the true root.</a:t>
            </a:r>
            <a:endParaRPr sz="1750" b="0" i="0" u="none" strike="noStrike" cap="none"/>
          </a:p>
        </p:txBody>
      </p:sp>
      <p:sp>
        <p:nvSpPr>
          <p:cNvPr id="175" name="Google Shape;175;p20"/>
          <p:cNvSpPr/>
          <p:nvPr/>
        </p:nvSpPr>
        <p:spPr>
          <a:xfrm>
            <a:off x="793790" y="460688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iterative formula is:</a:t>
            </a:r>
            <a:endParaRPr sz="1750" b="0" i="0" u="none" strike="noStrike" cap="none"/>
          </a:p>
        </p:txBody>
      </p:sp>
      <p:pic>
        <p:nvPicPr>
          <p:cNvPr id="176" name="Google Shape;176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5224939"/>
            <a:ext cx="12828032" cy="22308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793790" y="675442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"/>
              <a:buNone/>
            </a:pPr>
            <a:r>
              <a:rPr lang="en-US" sz="4450" b="1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Iteration Results and Graphical Convergence of Steffensen’s Method</a:t>
            </a:r>
            <a:endParaRPr sz="4450" b="0" i="0" u="none" strike="noStrike" cap="none"/>
          </a:p>
        </p:txBody>
      </p:sp>
      <p:pic>
        <p:nvPicPr>
          <p:cNvPr id="184" name="Google Shape;184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2688312"/>
            <a:ext cx="4885015" cy="901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/>
          <p:nvPr/>
        </p:nvSpPr>
        <p:spPr>
          <a:xfrm>
            <a:off x="793790" y="3845362"/>
            <a:ext cx="4863941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"/>
              <a:buNone/>
            </a:pPr>
            <a:r>
              <a:rPr lang="en-US" sz="26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Steffensen’s Method Formula</a:t>
            </a:r>
            <a:endParaRPr sz="2650" b="0" i="0" u="none" strike="noStrike" cap="none"/>
          </a:p>
        </p:txBody>
      </p:sp>
      <p:sp>
        <p:nvSpPr>
          <p:cNvPr id="186" name="Google Shape;186;p21"/>
          <p:cNvSpPr/>
          <p:nvPr/>
        </p:nvSpPr>
        <p:spPr>
          <a:xfrm>
            <a:off x="793790" y="4497467"/>
            <a:ext cx="488501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formula assumes the function F(x) is continuous and behaves smoothly near the root. </a:t>
            </a:r>
            <a:endParaRPr sz="1750" b="0" i="0" u="none" strike="noStrike" cap="none"/>
          </a:p>
        </p:txBody>
      </p:sp>
      <p:pic>
        <p:nvPicPr>
          <p:cNvPr id="187" name="Google Shape;187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9828" y="2688312"/>
            <a:ext cx="7603331" cy="266569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6239828" y="5609153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SzPts val="2650"/>
              <a:buFont typeface="Arial"/>
              <a:buNone/>
            </a:pPr>
            <a:endParaRPr sz="2650" b="0" i="0" u="none" strike="noStrike" cap="none"/>
          </a:p>
        </p:txBody>
      </p:sp>
      <p:sp>
        <p:nvSpPr>
          <p:cNvPr id="189" name="Google Shape;189;p21"/>
          <p:cNvSpPr/>
          <p:nvPr/>
        </p:nvSpPr>
        <p:spPr>
          <a:xfrm>
            <a:off x="6239828" y="6261259"/>
            <a:ext cx="7604284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F(x) = x^2-7 Using the initial approximation X(0) = 2.5.</a:t>
            </a:r>
            <a:b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exact root of F(x) = x^2-7 is √7=2.645751311 which Steffensen’s Method successfully converges to with high precision.</a:t>
            </a:r>
            <a:endParaRPr sz="1750" b="0" i="0" u="none" strike="noStrike" cap="none"/>
          </a:p>
        </p:txBody>
      </p:sp>
      <p:sp>
        <p:nvSpPr>
          <p:cNvPr id="190" name="Google Shape;190;p21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895390" y="1290005"/>
            <a:ext cx="11599783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"/>
              <a:buNone/>
            </a:pPr>
            <a:r>
              <a:rPr lang="en-US" sz="4450" b="0" i="0" u="none" strike="noStrike" cap="none" dirty="0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Potential Issues with Steffensen's Method</a:t>
            </a:r>
            <a:endParaRPr sz="4450" b="0" i="0" u="none" strike="noStrike" cap="none" dirty="0"/>
          </a:p>
        </p:txBody>
      </p:sp>
      <p:sp>
        <p:nvSpPr>
          <p:cNvPr id="197" name="Google Shape;197;p22"/>
          <p:cNvSpPr/>
          <p:nvPr/>
        </p:nvSpPr>
        <p:spPr>
          <a:xfrm>
            <a:off x="793790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1530906" y="3405307"/>
            <a:ext cx="3421499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Sensitivity to Initial Guess</a:t>
            </a:r>
            <a:endParaRPr sz="2200" b="0" i="0" u="none" strike="noStrike" cap="none"/>
          </a:p>
        </p:txBody>
      </p:sp>
      <p:sp>
        <p:nvSpPr>
          <p:cNvPr id="199" name="Google Shape;199;p22"/>
          <p:cNvSpPr/>
          <p:nvPr/>
        </p:nvSpPr>
        <p:spPr>
          <a:xfrm>
            <a:off x="1530906" y="4250055"/>
            <a:ext cx="3421499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Like Newton's Method, Steffensen's success depends on a close initial guess. Poor guesses may cause failure to converge, oscillations, or divergence.</a:t>
            </a:r>
            <a:endParaRPr sz="1750" b="0" i="0" u="none" strike="noStrike" cap="none"/>
          </a:p>
        </p:txBody>
      </p:sp>
      <p:sp>
        <p:nvSpPr>
          <p:cNvPr id="200" name="Google Shape;200;p22"/>
          <p:cNvSpPr/>
          <p:nvPr/>
        </p:nvSpPr>
        <p:spPr>
          <a:xfrm>
            <a:off x="5235893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5973008" y="3405307"/>
            <a:ext cx="322480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Susceptibility to Cycles</a:t>
            </a:r>
            <a:endParaRPr sz="2200" b="0" i="0" u="none" strike="noStrike" cap="none"/>
          </a:p>
        </p:txBody>
      </p:sp>
      <p:sp>
        <p:nvSpPr>
          <p:cNvPr id="202" name="Google Shape;202;p22"/>
          <p:cNvSpPr/>
          <p:nvPr/>
        </p:nvSpPr>
        <p:spPr>
          <a:xfrm>
            <a:off x="5973008" y="3895725"/>
            <a:ext cx="3421499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Points of inflection can cause cycling behavior where iterations bounce without converging.</a:t>
            </a:r>
            <a:endParaRPr sz="1750" b="0" i="0" u="none" strike="noStrike" cap="none"/>
          </a:p>
        </p:txBody>
      </p:sp>
      <p:sp>
        <p:nvSpPr>
          <p:cNvPr id="203" name="Google Shape;203;p22"/>
          <p:cNvSpPr/>
          <p:nvPr/>
        </p:nvSpPr>
        <p:spPr>
          <a:xfrm>
            <a:off x="9677995" y="33274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10415111" y="3405307"/>
            <a:ext cx="3421499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Double Function Evaluation Overhead</a:t>
            </a:r>
            <a:endParaRPr sz="2200" b="0" i="0" u="none" strike="noStrike" cap="none"/>
          </a:p>
        </p:txBody>
      </p:sp>
      <p:sp>
        <p:nvSpPr>
          <p:cNvPr id="205" name="Google Shape;205;p22"/>
          <p:cNvSpPr/>
          <p:nvPr/>
        </p:nvSpPr>
        <p:spPr>
          <a:xfrm>
            <a:off x="10415111" y="4250055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Each iteration requires two function evaluations, potentially making it slower for complex functions.</a:t>
            </a:r>
            <a:endParaRPr sz="1750" b="0" i="0" u="none" strike="noStrike" cap="none"/>
          </a:p>
        </p:txBody>
      </p:sp>
      <p:sp>
        <p:nvSpPr>
          <p:cNvPr id="206" name="Google Shape;206;p22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793790" y="2048827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"/>
              <a:buNone/>
            </a:pPr>
            <a:r>
              <a:rPr lang="en-US" sz="44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MATLAB Implementation of Steffensen's Method</a:t>
            </a:r>
            <a:endParaRPr sz="4450" b="0" i="0" u="none" strike="noStrike" cap="none"/>
          </a:p>
        </p:txBody>
      </p:sp>
      <p:sp>
        <p:nvSpPr>
          <p:cNvPr id="213" name="Google Shape;213;p23"/>
          <p:cNvSpPr/>
          <p:nvPr/>
        </p:nvSpPr>
        <p:spPr>
          <a:xfrm>
            <a:off x="793790" y="38065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878860" y="384905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"/>
              <a:buNone/>
            </a:pPr>
            <a:r>
              <a:rPr lang="en-US" sz="26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1</a:t>
            </a:r>
            <a:endParaRPr sz="2650" b="0" i="0" u="none" strike="noStrike" cap="none"/>
          </a:p>
        </p:txBody>
      </p:sp>
      <p:sp>
        <p:nvSpPr>
          <p:cNvPr id="215" name="Google Shape;215;p23"/>
          <p:cNvSpPr/>
          <p:nvPr/>
        </p:nvSpPr>
        <p:spPr>
          <a:xfrm>
            <a:off x="1530906" y="3884414"/>
            <a:ext cx="3421499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Inputs and Assumptions</a:t>
            </a:r>
            <a:endParaRPr sz="2200" b="0" i="0" u="none" strike="noStrike" cap="none"/>
          </a:p>
        </p:txBody>
      </p:sp>
      <p:sp>
        <p:nvSpPr>
          <p:cNvPr id="216" name="Google Shape;216;p23"/>
          <p:cNvSpPr/>
          <p:nvPr/>
        </p:nvSpPr>
        <p:spPr>
          <a:xfrm>
            <a:off x="1530906" y="4729163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 f(x) and initial guess x0. The function must be continuous and the initial guess close to the root for quadratic convergence.</a:t>
            </a:r>
            <a:endParaRPr sz="1750" b="0" i="0" u="none" strike="noStrike" cap="none"/>
          </a:p>
        </p:txBody>
      </p:sp>
      <p:sp>
        <p:nvSpPr>
          <p:cNvPr id="217" name="Google Shape;217;p23"/>
          <p:cNvSpPr/>
          <p:nvPr/>
        </p:nvSpPr>
        <p:spPr>
          <a:xfrm>
            <a:off x="5235893" y="38065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5320963" y="384905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"/>
              <a:buNone/>
            </a:pPr>
            <a:r>
              <a:rPr lang="en-US" sz="26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2</a:t>
            </a:r>
            <a:endParaRPr sz="2650" b="0" i="0" u="none" strike="noStrike" cap="none"/>
          </a:p>
        </p:txBody>
      </p:sp>
      <p:sp>
        <p:nvSpPr>
          <p:cNvPr id="219" name="Google Shape;219;p23"/>
          <p:cNvSpPr/>
          <p:nvPr/>
        </p:nvSpPr>
        <p:spPr>
          <a:xfrm>
            <a:off x="5973008" y="38844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Procedure</a:t>
            </a:r>
            <a:endParaRPr sz="2200" b="0" i="0" u="none" strike="noStrike" cap="none"/>
          </a:p>
        </p:txBody>
      </p:sp>
      <p:sp>
        <p:nvSpPr>
          <p:cNvPr id="220" name="Google Shape;220;p23"/>
          <p:cNvSpPr/>
          <p:nvPr/>
        </p:nvSpPr>
        <p:spPr>
          <a:xfrm>
            <a:off x="5973008" y="4374832"/>
            <a:ext cx="342149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Iteratively compute x(n+1) using the Steffensen formula until the error is below tolerance or max iterations reached.</a:t>
            </a:r>
            <a:endParaRPr sz="1750" b="0" i="0" u="none" strike="noStrike" cap="none"/>
          </a:p>
        </p:txBody>
      </p:sp>
      <p:sp>
        <p:nvSpPr>
          <p:cNvPr id="221" name="Google Shape;221;p23"/>
          <p:cNvSpPr/>
          <p:nvPr/>
        </p:nvSpPr>
        <p:spPr>
          <a:xfrm>
            <a:off x="9677995" y="38065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9763065" y="3849053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"/>
              <a:buNone/>
            </a:pPr>
            <a:r>
              <a:rPr lang="en-US" sz="265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3</a:t>
            </a:r>
            <a:endParaRPr sz="2650" b="0" i="0" u="none" strike="noStrike" cap="none"/>
          </a:p>
        </p:txBody>
      </p:sp>
      <p:sp>
        <p:nvSpPr>
          <p:cNvPr id="223" name="Google Shape;223;p23"/>
          <p:cNvSpPr/>
          <p:nvPr/>
        </p:nvSpPr>
        <p:spPr>
          <a:xfrm>
            <a:off x="10415111" y="38844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"/>
              <a:buNone/>
            </a:pPr>
            <a:r>
              <a:rPr lang="en-US" sz="2200" b="0" i="0" u="none" strike="noStrike" cap="none">
                <a:solidFill>
                  <a:srgbClr val="504C49"/>
                </a:solidFill>
                <a:latin typeface="Platypi"/>
                <a:ea typeface="Platypi"/>
                <a:cs typeface="Platypi"/>
                <a:sym typeface="Platypi"/>
              </a:rPr>
              <a:t>Output</a:t>
            </a:r>
            <a:endParaRPr sz="2200" b="0" i="0" u="none" strike="noStrike" cap="none"/>
          </a:p>
        </p:txBody>
      </p:sp>
      <p:sp>
        <p:nvSpPr>
          <p:cNvPr id="224" name="Google Shape;224;p23"/>
          <p:cNvSpPr/>
          <p:nvPr/>
        </p:nvSpPr>
        <p:spPr>
          <a:xfrm>
            <a:off x="10415111" y="4374832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Prints iteration details and plots the function with the found root.</a:t>
            </a:r>
            <a:endParaRPr sz="1750" b="0" i="0" u="none" strike="noStrike" cap="none"/>
          </a:p>
        </p:txBody>
      </p:sp>
      <p:sp>
        <p:nvSpPr>
          <p:cNvPr id="225" name="Google Shape;225;p23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781526" y="334605"/>
            <a:ext cx="10362605" cy="55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285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00"/>
              <a:buFont typeface="Platypi"/>
              <a:buNone/>
            </a:pPr>
            <a:r>
              <a:rPr lang="en-US" sz="3500" b="1" i="0" u="none" strike="noStrike" cap="none" dirty="0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MATLAB Script Output (Steffensen’s Method)</a:t>
            </a:r>
            <a:endParaRPr sz="3500" b="0" i="0" u="none" strike="noStrike" cap="none" dirty="0"/>
          </a:p>
        </p:txBody>
      </p:sp>
      <p:pic>
        <p:nvPicPr>
          <p:cNvPr id="232" name="Google Shape;232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526" y="1674614"/>
            <a:ext cx="6261259" cy="349210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/>
          <p:nvPr/>
        </p:nvSpPr>
        <p:spPr>
          <a:xfrm>
            <a:off x="781526" y="5417939"/>
            <a:ext cx="6261259" cy="837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00"/>
              <a:buFont typeface="Platypi"/>
              <a:buNone/>
            </a:pPr>
            <a:r>
              <a:rPr lang="en-US" sz="260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Iteration Table: Steffensen’s Method Step-by-Step Results</a:t>
            </a:r>
            <a:endParaRPr sz="2600" b="0" i="0" u="none" strike="noStrike" cap="none"/>
          </a:p>
        </p:txBody>
      </p:sp>
      <p:sp>
        <p:nvSpPr>
          <p:cNvPr id="234" name="Google Shape;234;p24"/>
          <p:cNvSpPr/>
          <p:nvPr/>
        </p:nvSpPr>
        <p:spPr>
          <a:xfrm>
            <a:off x="781526" y="6478429"/>
            <a:ext cx="6261259" cy="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Shows how each approximation X(n), function value F(x(n)), next estimate X(n+1), and error evolve over each iteration.</a:t>
            </a:r>
            <a:endParaRPr sz="1750" b="0" i="0" u="none" strike="noStrike" cap="none"/>
          </a:p>
        </p:txBody>
      </p:sp>
      <p:pic>
        <p:nvPicPr>
          <p:cNvPr id="235" name="Google Shape;235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5235" y="1674614"/>
            <a:ext cx="6261259" cy="3924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7595235" y="5850612"/>
            <a:ext cx="6261259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150"/>
              <a:buFont typeface="Platypi"/>
              <a:buNone/>
            </a:pPr>
            <a:r>
              <a:rPr lang="en-US" sz="215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Graphical Convergence of Steffensen’s Method</a:t>
            </a:r>
            <a:endParaRPr sz="2150" b="0" i="0" u="none" strike="noStrike" cap="none"/>
          </a:p>
        </p:txBody>
      </p:sp>
      <p:sp>
        <p:nvSpPr>
          <p:cNvPr id="237" name="Google Shape;237;p24"/>
          <p:cNvSpPr/>
          <p:nvPr/>
        </p:nvSpPr>
        <p:spPr>
          <a:xfrm>
            <a:off x="7595235" y="6771561"/>
            <a:ext cx="6261259" cy="714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Visualizes the rapid convergence of the method toward the root, highlighting the iterative steps and final estimate</a:t>
            </a:r>
            <a:endParaRPr sz="1750" b="0" i="0" u="none" strike="noStrike" cap="none"/>
          </a:p>
        </p:txBody>
      </p:sp>
      <p:sp>
        <p:nvSpPr>
          <p:cNvPr id="238" name="Google Shape;238;p24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42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789503" y="4849773"/>
            <a:ext cx="507444" cy="50744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1522452" y="4922996"/>
            <a:ext cx="5651778" cy="721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Both Newton's and Steffensen's methods rapidly converge to roots when starting near the true root.</a:t>
            </a:r>
            <a:endParaRPr sz="1750" b="0" i="0" u="none" strike="noStrike" cap="none"/>
          </a:p>
        </p:txBody>
      </p:sp>
      <p:sp>
        <p:nvSpPr>
          <p:cNvPr id="247" name="Google Shape;247;p25"/>
          <p:cNvSpPr/>
          <p:nvPr/>
        </p:nvSpPr>
        <p:spPr>
          <a:xfrm>
            <a:off x="7456170" y="4849773"/>
            <a:ext cx="507444" cy="50744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8189119" y="4922996"/>
            <a:ext cx="5651778" cy="1082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Newton's Method requires the derivative, which may not always be available, but is computationally cheaper per iteration.</a:t>
            </a:r>
            <a:endParaRPr sz="1750" b="0" i="0" u="none" strike="noStrike" cap="none"/>
          </a:p>
        </p:txBody>
      </p:sp>
      <p:sp>
        <p:nvSpPr>
          <p:cNvPr id="249" name="Google Shape;249;p25"/>
          <p:cNvSpPr/>
          <p:nvPr/>
        </p:nvSpPr>
        <p:spPr>
          <a:xfrm>
            <a:off x="789503" y="6457117"/>
            <a:ext cx="507444" cy="50744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1522452" y="6530340"/>
            <a:ext cx="5651778" cy="1082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Steffensen's Method avoids derivatives, making it useful when derivatives are hard to compute, but requires double function evaluations per iteration.</a:t>
            </a:r>
            <a:endParaRPr sz="1750" b="0" i="0" u="none" strike="noStrike" cap="none"/>
          </a:p>
        </p:txBody>
      </p:sp>
      <p:sp>
        <p:nvSpPr>
          <p:cNvPr id="251" name="Google Shape;251;p25"/>
          <p:cNvSpPr/>
          <p:nvPr/>
        </p:nvSpPr>
        <p:spPr>
          <a:xfrm>
            <a:off x="7456170" y="6457117"/>
            <a:ext cx="507444" cy="50744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8189119" y="6530340"/>
            <a:ext cx="5651778" cy="1082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Both methods can suffer from cycling and sensitivity to initial guesses. The choice depends on derivative availability and computational cost.</a:t>
            </a:r>
            <a:endParaRPr sz="1750" b="0" i="0" u="none" strike="noStrike" cap="none"/>
          </a:p>
        </p:txBody>
      </p:sp>
      <p:sp>
        <p:nvSpPr>
          <p:cNvPr id="253" name="Google Shape;253;p25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793790" y="675799"/>
            <a:ext cx="13042821" cy="127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"/>
              <a:buNone/>
            </a:pPr>
            <a:r>
              <a:rPr lang="en-US" sz="4000" b="0" i="0" u="none" strike="noStrike" cap="none">
                <a:solidFill>
                  <a:srgbClr val="201B18"/>
                </a:solidFill>
                <a:latin typeface="Platypi"/>
                <a:ea typeface="Platypi"/>
                <a:cs typeface="Platypi"/>
                <a:sym typeface="Platypi"/>
              </a:rPr>
              <a:t>Feature Comparison: Newton's vs Steffensen's Method</a:t>
            </a:r>
            <a:endParaRPr sz="4000" b="0" i="0" u="none" strike="noStrike" cap="none"/>
          </a:p>
        </p:txBody>
      </p:sp>
      <p:sp>
        <p:nvSpPr>
          <p:cNvPr id="260" name="Google Shape;260;p26"/>
          <p:cNvSpPr/>
          <p:nvPr/>
        </p:nvSpPr>
        <p:spPr>
          <a:xfrm>
            <a:off x="793790" y="2257782"/>
            <a:ext cx="13042821" cy="5295900"/>
          </a:xfrm>
          <a:prstGeom prst="roundRect">
            <a:avLst>
              <a:gd name="adj" fmla="val 578"/>
            </a:avLst>
          </a:prstGeom>
          <a:noFill/>
          <a:ln w="9525" cap="flat" cmpd="sng">
            <a:solidFill>
              <a:srgbClr val="000000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6"/>
          <p:cNvSpPr/>
          <p:nvPr/>
        </p:nvSpPr>
        <p:spPr>
          <a:xfrm>
            <a:off x="801410" y="2265402"/>
            <a:ext cx="13026271" cy="58674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1006912" y="239541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600" b="0" i="0" u="none" strike="noStrike" cap="none"/>
          </a:p>
        </p:txBody>
      </p:sp>
      <p:sp>
        <p:nvSpPr>
          <p:cNvPr id="263" name="Google Shape;263;p26"/>
          <p:cNvSpPr/>
          <p:nvPr/>
        </p:nvSpPr>
        <p:spPr>
          <a:xfrm>
            <a:off x="5352336" y="239541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Newton's Method</a:t>
            </a:r>
            <a:endParaRPr sz="1600" b="0" i="0" u="none" strike="noStrike" cap="none"/>
          </a:p>
        </p:txBody>
      </p:sp>
      <p:sp>
        <p:nvSpPr>
          <p:cNvPr id="264" name="Google Shape;264;p26"/>
          <p:cNvSpPr/>
          <p:nvPr/>
        </p:nvSpPr>
        <p:spPr>
          <a:xfrm>
            <a:off x="9693950" y="239541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Steffensen's Method</a:t>
            </a:r>
            <a:endParaRPr sz="1600" b="0" i="0" u="none" strike="noStrike" cap="none"/>
          </a:p>
        </p:txBody>
      </p:sp>
      <p:sp>
        <p:nvSpPr>
          <p:cNvPr id="265" name="Google Shape;265;p26"/>
          <p:cNvSpPr/>
          <p:nvPr/>
        </p:nvSpPr>
        <p:spPr>
          <a:xfrm>
            <a:off x="801410" y="2852142"/>
            <a:ext cx="13026271" cy="5867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1006912" y="298215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Convergence Rate</a:t>
            </a:r>
            <a:endParaRPr sz="1600" b="0" i="0" u="none" strike="noStrike" cap="none"/>
          </a:p>
        </p:txBody>
      </p:sp>
      <p:sp>
        <p:nvSpPr>
          <p:cNvPr id="267" name="Google Shape;267;p26"/>
          <p:cNvSpPr/>
          <p:nvPr/>
        </p:nvSpPr>
        <p:spPr>
          <a:xfrm>
            <a:off x="5352336" y="298215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Quadratic</a:t>
            </a:r>
            <a:endParaRPr sz="1600" b="0" i="0" u="none" strike="noStrike" cap="none"/>
          </a:p>
        </p:txBody>
      </p:sp>
      <p:sp>
        <p:nvSpPr>
          <p:cNvPr id="268" name="Google Shape;268;p26"/>
          <p:cNvSpPr/>
          <p:nvPr/>
        </p:nvSpPr>
        <p:spPr>
          <a:xfrm>
            <a:off x="9693950" y="298215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Quadratic</a:t>
            </a:r>
            <a:endParaRPr sz="1600" b="0" i="0" u="none" strike="noStrike" cap="none"/>
          </a:p>
        </p:txBody>
      </p:sp>
      <p:sp>
        <p:nvSpPr>
          <p:cNvPr id="269" name="Google Shape;269;p26"/>
          <p:cNvSpPr/>
          <p:nvPr/>
        </p:nvSpPr>
        <p:spPr>
          <a:xfrm>
            <a:off x="801410" y="3438882"/>
            <a:ext cx="13026271" cy="58674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1006912" y="356889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Requires Derivative?</a:t>
            </a:r>
            <a:endParaRPr sz="1600" b="0" i="0" u="none" strike="noStrike" cap="none"/>
          </a:p>
        </p:txBody>
      </p:sp>
      <p:sp>
        <p:nvSpPr>
          <p:cNvPr id="271" name="Google Shape;271;p26"/>
          <p:cNvSpPr/>
          <p:nvPr/>
        </p:nvSpPr>
        <p:spPr>
          <a:xfrm>
            <a:off x="5352336" y="356889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/>
          </a:p>
        </p:txBody>
      </p:sp>
      <p:sp>
        <p:nvSpPr>
          <p:cNvPr id="272" name="Google Shape;272;p26"/>
          <p:cNvSpPr/>
          <p:nvPr/>
        </p:nvSpPr>
        <p:spPr>
          <a:xfrm>
            <a:off x="9693950" y="356889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600" b="0" i="0" u="none" strike="noStrike" cap="none"/>
          </a:p>
        </p:txBody>
      </p:sp>
      <p:sp>
        <p:nvSpPr>
          <p:cNvPr id="273" name="Google Shape;273;p26"/>
          <p:cNvSpPr/>
          <p:nvPr/>
        </p:nvSpPr>
        <p:spPr>
          <a:xfrm>
            <a:off x="801410" y="4025622"/>
            <a:ext cx="13026271" cy="5867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1006912" y="415563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Iteration Formula</a:t>
            </a:r>
            <a:endParaRPr sz="1600" b="0" i="0" u="none" strike="noStrike" cap="none"/>
          </a:p>
        </p:txBody>
      </p:sp>
      <p:sp>
        <p:nvSpPr>
          <p:cNvPr id="275" name="Google Shape;275;p26"/>
          <p:cNvSpPr/>
          <p:nvPr/>
        </p:nvSpPr>
        <p:spPr>
          <a:xfrm>
            <a:off x="5352336" y="415563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xn+1 = xn - f(xn)/f'(xn)</a:t>
            </a:r>
            <a:endParaRPr sz="1600" b="0" i="0" u="none" strike="noStrike" cap="none"/>
          </a:p>
        </p:txBody>
      </p:sp>
      <p:sp>
        <p:nvSpPr>
          <p:cNvPr id="276" name="Google Shape;276;p26"/>
          <p:cNvSpPr/>
          <p:nvPr/>
        </p:nvSpPr>
        <p:spPr>
          <a:xfrm>
            <a:off x="9693950" y="415563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xn+1 = xn - [f(xn)]² / (f(xn + f(xn)) - f(xn))</a:t>
            </a:r>
            <a:endParaRPr sz="1600" b="0" i="0" u="none" strike="noStrike" cap="none"/>
          </a:p>
        </p:txBody>
      </p:sp>
      <p:sp>
        <p:nvSpPr>
          <p:cNvPr id="277" name="Google Shape;277;p26"/>
          <p:cNvSpPr/>
          <p:nvPr/>
        </p:nvSpPr>
        <p:spPr>
          <a:xfrm>
            <a:off x="801410" y="4612362"/>
            <a:ext cx="13026271" cy="58674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1006912" y="474237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Function Calls per Iteration</a:t>
            </a:r>
            <a:endParaRPr sz="1600" b="0" i="0" u="none" strike="noStrike" cap="none"/>
          </a:p>
        </p:txBody>
      </p:sp>
      <p:sp>
        <p:nvSpPr>
          <p:cNvPr id="279" name="Google Shape;279;p26"/>
          <p:cNvSpPr/>
          <p:nvPr/>
        </p:nvSpPr>
        <p:spPr>
          <a:xfrm>
            <a:off x="5352336" y="474237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1 function + 1 derivative</a:t>
            </a:r>
            <a:endParaRPr sz="1600" b="0" i="0" u="none" strike="noStrike" cap="none"/>
          </a:p>
        </p:txBody>
      </p:sp>
      <p:sp>
        <p:nvSpPr>
          <p:cNvPr id="280" name="Google Shape;280;p26"/>
          <p:cNvSpPr/>
          <p:nvPr/>
        </p:nvSpPr>
        <p:spPr>
          <a:xfrm>
            <a:off x="9693950" y="474237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2 function evaluations</a:t>
            </a:r>
            <a:endParaRPr sz="1600" b="0" i="0" u="none" strike="noStrike" cap="none"/>
          </a:p>
        </p:txBody>
      </p:sp>
      <p:sp>
        <p:nvSpPr>
          <p:cNvPr id="281" name="Google Shape;281;p26"/>
          <p:cNvSpPr/>
          <p:nvPr/>
        </p:nvSpPr>
        <p:spPr>
          <a:xfrm>
            <a:off x="801410" y="5199102"/>
            <a:ext cx="13026271" cy="5867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1006912" y="532911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Computation Cost</a:t>
            </a:r>
            <a:endParaRPr sz="1600" b="0" i="0" u="none" strike="noStrike" cap="none"/>
          </a:p>
        </p:txBody>
      </p:sp>
      <p:sp>
        <p:nvSpPr>
          <p:cNvPr id="283" name="Google Shape;283;p26"/>
          <p:cNvSpPr/>
          <p:nvPr/>
        </p:nvSpPr>
        <p:spPr>
          <a:xfrm>
            <a:off x="5352336" y="532911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Lower if derivative known</a:t>
            </a:r>
            <a:endParaRPr sz="1600" b="0" i="0" u="none" strike="noStrike" cap="none"/>
          </a:p>
        </p:txBody>
      </p:sp>
      <p:sp>
        <p:nvSpPr>
          <p:cNvPr id="284" name="Google Shape;284;p26"/>
          <p:cNvSpPr/>
          <p:nvPr/>
        </p:nvSpPr>
        <p:spPr>
          <a:xfrm>
            <a:off x="9693950" y="532911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Slightly higher due to double evaluations</a:t>
            </a:r>
            <a:endParaRPr sz="1600" b="0" i="0" u="none" strike="noStrike" cap="none"/>
          </a:p>
        </p:txBody>
      </p:sp>
      <p:sp>
        <p:nvSpPr>
          <p:cNvPr id="285" name="Google Shape;285;p26"/>
          <p:cNvSpPr/>
          <p:nvPr/>
        </p:nvSpPr>
        <p:spPr>
          <a:xfrm>
            <a:off x="801410" y="5785842"/>
            <a:ext cx="13026271" cy="58674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1006912" y="591585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Susceptible to Cycles</a:t>
            </a:r>
            <a:endParaRPr sz="1600" b="0" i="0" u="none" strike="noStrike" cap="none"/>
          </a:p>
        </p:txBody>
      </p:sp>
      <p:sp>
        <p:nvSpPr>
          <p:cNvPr id="287" name="Google Shape;287;p26"/>
          <p:cNvSpPr/>
          <p:nvPr/>
        </p:nvSpPr>
        <p:spPr>
          <a:xfrm>
            <a:off x="5352336" y="591585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/>
          </a:p>
        </p:txBody>
      </p:sp>
      <p:sp>
        <p:nvSpPr>
          <p:cNvPr id="288" name="Google Shape;288;p26"/>
          <p:cNvSpPr/>
          <p:nvPr/>
        </p:nvSpPr>
        <p:spPr>
          <a:xfrm>
            <a:off x="9693950" y="591585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600" b="0" i="0" u="none" strike="noStrike" cap="none"/>
          </a:p>
        </p:txBody>
      </p:sp>
      <p:sp>
        <p:nvSpPr>
          <p:cNvPr id="289" name="Google Shape;289;p26"/>
          <p:cNvSpPr/>
          <p:nvPr/>
        </p:nvSpPr>
        <p:spPr>
          <a:xfrm>
            <a:off x="801410" y="6372582"/>
            <a:ext cx="13026271" cy="58674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1006912" y="650259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Sensitivity to Initial Guess</a:t>
            </a:r>
            <a:endParaRPr sz="1600" b="0" i="0" u="none" strike="noStrike" cap="none"/>
          </a:p>
        </p:txBody>
      </p:sp>
      <p:sp>
        <p:nvSpPr>
          <p:cNvPr id="291" name="Google Shape;291;p26"/>
          <p:cNvSpPr/>
          <p:nvPr/>
        </p:nvSpPr>
        <p:spPr>
          <a:xfrm>
            <a:off x="5352336" y="650259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600" b="0" i="0" u="none" strike="noStrike" cap="none"/>
          </a:p>
        </p:txBody>
      </p:sp>
      <p:sp>
        <p:nvSpPr>
          <p:cNvPr id="292" name="Google Shape;292;p26"/>
          <p:cNvSpPr/>
          <p:nvPr/>
        </p:nvSpPr>
        <p:spPr>
          <a:xfrm>
            <a:off x="9693950" y="650259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600" b="0" i="0" u="none" strike="noStrike" cap="none"/>
          </a:p>
        </p:txBody>
      </p:sp>
      <p:sp>
        <p:nvSpPr>
          <p:cNvPr id="293" name="Google Shape;293;p26"/>
          <p:cNvSpPr/>
          <p:nvPr/>
        </p:nvSpPr>
        <p:spPr>
          <a:xfrm>
            <a:off x="801410" y="6959322"/>
            <a:ext cx="13026271" cy="58674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1006912" y="708933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Best Use Case</a:t>
            </a:r>
            <a:endParaRPr sz="1600" b="0" i="0" u="none" strike="noStrike" cap="none"/>
          </a:p>
        </p:txBody>
      </p:sp>
      <p:sp>
        <p:nvSpPr>
          <p:cNvPr id="295" name="Google Shape;295;p26"/>
          <p:cNvSpPr/>
          <p:nvPr/>
        </p:nvSpPr>
        <p:spPr>
          <a:xfrm>
            <a:off x="5352336" y="7089338"/>
            <a:ext cx="392584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Derivative Available &amp; Simple</a:t>
            </a:r>
            <a:endParaRPr sz="1600" b="0" i="0" u="none" strike="noStrike" cap="none"/>
          </a:p>
        </p:txBody>
      </p:sp>
      <p:sp>
        <p:nvSpPr>
          <p:cNvPr id="296" name="Google Shape;296;p26"/>
          <p:cNvSpPr/>
          <p:nvPr/>
        </p:nvSpPr>
        <p:spPr>
          <a:xfrm>
            <a:off x="9693950" y="7089338"/>
            <a:ext cx="3929658" cy="32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Derivative Unknown or Complex</a:t>
            </a:r>
            <a:endParaRPr sz="1600" b="0" i="0" u="none" strike="noStrike" cap="none"/>
          </a:p>
        </p:txBody>
      </p:sp>
      <p:sp>
        <p:nvSpPr>
          <p:cNvPr id="297" name="Google Shape;297;p26"/>
          <p:cNvSpPr/>
          <p:nvPr/>
        </p:nvSpPr>
        <p:spPr>
          <a:xfrm>
            <a:off x="12807650" y="7739100"/>
            <a:ext cx="1736400" cy="42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Office PowerPoint</Application>
  <PresentationFormat>Custom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Platypi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Sultan</dc:creator>
  <cp:lastModifiedBy>Sultan</cp:lastModifiedBy>
  <cp:revision>2</cp:revision>
  <dcterms:modified xsi:type="dcterms:W3CDTF">2026-03-02T01:37:11Z</dcterms:modified>
</cp:coreProperties>
</file>